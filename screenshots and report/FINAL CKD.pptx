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Century Gothic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GeHhJgapWIh00Ch7Jb+NhSFY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6C83A6-ED50-44FF-9414-461DE10DFE4D}">
  <a:tblStyle styleId="{986C83A6-ED50-44FF-9414-461DE10DFE4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4E6"/>
          </a:solidFill>
        </a:fill>
      </a:tcStyle>
    </a:wholeTbl>
    <a:band1H>
      <a:tcTxStyle b="off" i="off"/>
      <a:tcStyle>
        <a:fill>
          <a:solidFill>
            <a:srgbClr val="FFE8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E8C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italic.fntdata"/><Relationship Id="rId30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ieeexplore.ieee.org/document/8893707" TargetMode="External"/><Relationship Id="rId4" Type="http://schemas.openxmlformats.org/officeDocument/2006/relationships/hyperlink" Target="https://ieeexplore.ieee.org/document/10119976" TargetMode="External"/><Relationship Id="rId5" Type="http://schemas.openxmlformats.org/officeDocument/2006/relationships/hyperlink" Target="https://ieeexplore.ieee.org/document/9446468" TargetMode="External"/><Relationship Id="rId6" Type="http://schemas.openxmlformats.org/officeDocument/2006/relationships/hyperlink" Target="https://ieeexplore.ieee.org/document/9442140" TargetMode="External"/><Relationship Id="rId7" Type="http://schemas.openxmlformats.org/officeDocument/2006/relationships/hyperlink" Target="https://ieeexplore.ieee.org/document/9442140" TargetMode="External"/><Relationship Id="rId8" Type="http://schemas.openxmlformats.org/officeDocument/2006/relationships/hyperlink" Target="https://doaj.org/article/246b6b1e42004ca48b204484872cc6b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hsu.elsevierpure.com/en/publications/a-machine-learning-framework-for-pulse-detection-during-out-of-ho?utm_source=chatgpt.com" TargetMode="External"/><Relationship Id="rId4" Type="http://schemas.openxmlformats.org/officeDocument/2006/relationships/hyperlink" Target="https://ieeexplore.ieee.org/document/4122029" TargetMode="External"/><Relationship Id="rId5" Type="http://schemas.openxmlformats.org/officeDocument/2006/relationships/hyperlink" Target="https://ieeexplore.ieee.org/document/10425867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1521040" y="1719145"/>
            <a:ext cx="9090600" cy="16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entury Gothic"/>
              <a:buNone/>
            </a:pPr>
            <a:br>
              <a:rPr lang="en-US" sz="3200"/>
            </a:br>
            <a:r>
              <a:rPr lang="en-US" sz="3200"/>
              <a:t> </a:t>
            </a: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TITLE : CLASSIFICATION OF CHRONIC KIDNEY DISEASE - USING MACHINE LEARNING </a:t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578270" y="4407725"/>
            <a:ext cx="4631100" cy="1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440"/>
              <a:buNone/>
            </a:pPr>
            <a:r>
              <a:rPr b="1"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8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MRS. S. CHITRA DEVI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UCE –BIT CAMPUS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TIRUCHIRAPPALLI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216879" y="4669218"/>
            <a:ext cx="36969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RAMYA S (810022205094)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VINODHINI K (810022205069)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203870" y="292319"/>
            <a:ext cx="8467200" cy="159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81275">
            <a:noAutofit/>
          </a:bodyPr>
          <a:lstStyle/>
          <a:p>
            <a:pPr indent="0" lvl="0" marL="12700" marR="508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COLLEGE OF ENGINEERING (BIT CAMPUS), TIRUCHIRAPPALLI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270" y="292319"/>
            <a:ext cx="1496695" cy="135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543026" y="275750"/>
            <a:ext cx="108108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Times New Roman"/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838200" y="733273"/>
            <a:ext cx="10515600" cy="55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Chronic Kidney Disease (CKD) is a serious health condition that often remains undetected in its early stages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Affects over 850 million people worldwide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Early diagnosis is essential to prevent disease progression and complications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This project proposes a Machine Learning–Based CKD Prediction System that analyzes patient clinical data to predict the presence of CKD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By applying machine learning algorithms such as ANN, Decision Tree, Logistic Regression, KNN, SVM, and Random Tree, the system provides accurate and timely predictions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proposed solution aims to support healthcare professionals with a cost-effective and reliable decision-support tool for early CKD detection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5167275" y="160325"/>
            <a:ext cx="24066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50493" y="915657"/>
            <a:ext cx="10491000" cy="50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Chronic Kidney Disease (CKD) is a serious health condition that often remains undetected in its early stages.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Early diagnosis is essential to prevent disease progression and complications.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This project proposes 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Machine Learning–Based CKD Classification System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that analyzes patient clinical data to predict the presence of CKD.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By applying machine learning algorithms such as Decision Tree, Random Forest,</a:t>
            </a:r>
            <a:r>
              <a:rPr lang="en-US" sz="2200"/>
              <a:t>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Naive Bayes, Logistic Regression, KNN, and Support Vector Machine(SVM) the system provides accurate and timely predictions. </a:t>
            </a:r>
            <a:endParaRPr/>
          </a:p>
          <a:p>
            <a:pPr indent="-22860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The proposed solution aims to support healthcare professionals with a cost-effective and reliable decision-support tool for early CKD detection.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What is Smart Irrigation? – TWL Irrigation" id="101" name="Google Shape;101;p3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0" y="0"/>
            <a:ext cx="11960100" cy="10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 New Roman"/>
              <a:buNone/>
            </a:pPr>
            <a:r>
              <a:rPr b="1" lang="en-US" sz="2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2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1283057" y="1867197"/>
            <a:ext cx="9625800" cy="40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identify early signs of kidney disease using patient medical data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help doctors make faster decisions by giving prediction results automatically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reduce manual errors in diagnosis using machine learning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apply feature selection methods to find the most important health attributes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compare multiple algorithms and identify the best one for CKD prediction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To improve healthcare support using technology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143450" y="1"/>
            <a:ext cx="39051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1435500" y="627908"/>
            <a:ext cx="9321000" cy="6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Diagnosing CKD manually requires specialist doctors and expensive laboratory tests — not accessible to 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Rural and low-income areas lack access to nephrologists, leading to late-stage diagnosis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use all medical attributes without filtering, which leads to lower accuracy and slower predictions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comprehensive system that compares multiple feature selection methods and classification algorithms together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need exists for an automated, accurate, and early CKD prediction system that is easy to 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2231692" y="1049709"/>
            <a:ext cx="81282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ARCHITECTURAL DESIGN FOR PROPOSED SYSTEM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259088" y="2348572"/>
            <a:ext cx="2143500" cy="285570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61886" y="3196682"/>
            <a:ext cx="1701000" cy="440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UCI &amp; Kaggle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(CSV File Data)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61886" y="4330503"/>
            <a:ext cx="1701000" cy="548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Attributes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(Age, Bp, Sugar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93060" y="2503455"/>
            <a:ext cx="1838646" cy="413316"/>
          </a:xfrm>
          <a:prstGeom prst="flowChartTerminator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</a:t>
            </a:r>
            <a:endParaRPr b="1" i="0" sz="145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1286250" y="3637501"/>
            <a:ext cx="0" cy="70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4" name="Google Shape;124;p6"/>
          <p:cNvSpPr/>
          <p:nvPr/>
        </p:nvSpPr>
        <p:spPr>
          <a:xfrm>
            <a:off x="2872407" y="2338640"/>
            <a:ext cx="2541600" cy="406200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009091" y="2503455"/>
            <a:ext cx="2182788" cy="413316"/>
          </a:xfrm>
          <a:prstGeom prst="flowChartTerminator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  <a:endParaRPr b="1" i="0" sz="15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252205" y="4712556"/>
            <a:ext cx="1670100" cy="444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Irrelevant Data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58919" y="3930221"/>
            <a:ext cx="1670100" cy="444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252205" y="3138941"/>
            <a:ext cx="1670100" cy="444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(Missing values)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007121" y="2367940"/>
            <a:ext cx="2644500" cy="406200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086380" y="2529482"/>
            <a:ext cx="2369358" cy="413316"/>
          </a:xfrm>
          <a:prstGeom prst="flowChartTerminator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</a:t>
            </a:r>
            <a:endParaRPr b="1" i="0" sz="14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037761" y="3138941"/>
            <a:ext cx="1449900" cy="4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239005" y="4810635"/>
            <a:ext cx="2143500" cy="1496400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1" lang="en-US" sz="1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Algorithms</a:t>
            </a:r>
            <a:endParaRPr b="1" i="1" sz="1400" u="sng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NB, DT, LR,KNN, RT, ANN,SVM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391404" y="4926141"/>
            <a:ext cx="1838646" cy="413316"/>
          </a:xfrm>
          <a:prstGeom prst="flowChartTerminator">
            <a:avLst/>
          </a:prstGeom>
          <a:solidFill>
            <a:srgbClr val="92D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REGISTRY</a:t>
            </a:r>
            <a:endParaRPr b="1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4" name="Google Shape;134;p6"/>
          <p:cNvCxnSpPr>
            <a:stCxn id="128" idx="2"/>
            <a:endCxn id="127" idx="0"/>
          </p:cNvCxnSpPr>
          <p:nvPr/>
        </p:nvCxnSpPr>
        <p:spPr>
          <a:xfrm>
            <a:off x="4087255" y="3583241"/>
            <a:ext cx="6600" cy="347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5" name="Google Shape;135;p6"/>
          <p:cNvCxnSpPr/>
          <p:nvPr/>
        </p:nvCxnSpPr>
        <p:spPr>
          <a:xfrm>
            <a:off x="4107038" y="4369669"/>
            <a:ext cx="0" cy="347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6" name="Google Shape;136;p6"/>
          <p:cNvSpPr/>
          <p:nvPr/>
        </p:nvSpPr>
        <p:spPr>
          <a:xfrm>
            <a:off x="9130070" y="2338802"/>
            <a:ext cx="2879400" cy="4062000"/>
          </a:xfrm>
          <a:prstGeom prst="rect">
            <a:avLst/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9486699" y="2694880"/>
            <a:ext cx="2182788" cy="413316"/>
          </a:xfrm>
          <a:prstGeom prst="flowChartTerminator">
            <a:avLst/>
          </a:prstGeom>
          <a:gradFill>
            <a:gsLst>
              <a:gs pos="0">
                <a:srgbClr val="FFC647"/>
              </a:gs>
              <a:gs pos="50000">
                <a:srgbClr val="FFC600"/>
              </a:gs>
              <a:gs pos="100000">
                <a:srgbClr val="E3B400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5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LAYER</a:t>
            </a:r>
            <a:endParaRPr b="1" i="0" sz="1400" u="none" cap="none" strike="noStrike">
              <a:solidFill>
                <a:srgbClr val="3856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478437" y="4923123"/>
            <a:ext cx="2182800" cy="1283400"/>
          </a:xfrm>
          <a:prstGeom prst="rect">
            <a:avLst/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1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608059" y="5096315"/>
            <a:ext cx="1881036" cy="277182"/>
          </a:xfrm>
          <a:prstGeom prst="flowChartTerminator">
            <a:avLst/>
          </a:prstGeom>
          <a:solidFill>
            <a:srgbClr val="92D05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LAYER</a:t>
            </a:r>
            <a:endParaRPr b="1" i="0" sz="1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743094" y="5566221"/>
            <a:ext cx="1670100" cy="444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Usage Streamlit App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9308390" y="3429000"/>
            <a:ext cx="2523000" cy="741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CKD / Non-CKD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Metrics(Accuracy, Precision, Recall, F- Measure)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2" name="Google Shape;142;p6"/>
          <p:cNvCxnSpPr>
            <a:stCxn id="141" idx="2"/>
            <a:endCxn id="138" idx="0"/>
          </p:cNvCxnSpPr>
          <p:nvPr/>
        </p:nvCxnSpPr>
        <p:spPr>
          <a:xfrm>
            <a:off x="10569890" y="4170000"/>
            <a:ext cx="0" cy="753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3" name="Google Shape;143;p6"/>
          <p:cNvSpPr/>
          <p:nvPr/>
        </p:nvSpPr>
        <p:spPr>
          <a:xfrm>
            <a:off x="2411335" y="3061285"/>
            <a:ext cx="461100" cy="284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17186" y="3108192"/>
            <a:ext cx="5802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651714" y="3202163"/>
            <a:ext cx="4503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661547" y="5396569"/>
            <a:ext cx="468600" cy="238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7037761" y="4230224"/>
            <a:ext cx="1449900" cy="4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7037761" y="3654474"/>
            <a:ext cx="1449900" cy="413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WRAPPER FS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>
            <a:off x="6391404" y="2936616"/>
            <a:ext cx="0" cy="185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0" name="Google Shape;150;p6"/>
          <p:cNvCxnSpPr/>
          <p:nvPr/>
        </p:nvCxnSpPr>
        <p:spPr>
          <a:xfrm flipH="1" rot="-5400000">
            <a:off x="6719456" y="3007593"/>
            <a:ext cx="402900" cy="273300"/>
          </a:xfrm>
          <a:prstGeom prst="bentConnector2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1" name="Google Shape;151;p6"/>
          <p:cNvCxnSpPr/>
          <p:nvPr/>
        </p:nvCxnSpPr>
        <p:spPr>
          <a:xfrm flipH="1" rot="-5400000">
            <a:off x="6386713" y="3200915"/>
            <a:ext cx="935100" cy="406500"/>
          </a:xfrm>
          <a:prstGeom prst="bentConnector2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6"/>
          <p:cNvCxnSpPr/>
          <p:nvPr/>
        </p:nvCxnSpPr>
        <p:spPr>
          <a:xfrm flipH="1" rot="-5400000">
            <a:off x="6041527" y="3429247"/>
            <a:ext cx="1491900" cy="520500"/>
          </a:xfrm>
          <a:prstGeom prst="bentConnector2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3940216" y="35871"/>
            <a:ext cx="49293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FLOW DIAGRAM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651883" y="1765584"/>
            <a:ext cx="1993500" cy="619800"/>
          </a:xfrm>
          <a:prstGeom prst="ellipse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871877" y="935091"/>
            <a:ext cx="1553400" cy="551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USER/DOCTOR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601490" y="4279375"/>
            <a:ext cx="2172900" cy="619800"/>
          </a:xfrm>
          <a:prstGeom prst="ellipse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911206" y="6022720"/>
            <a:ext cx="1553400" cy="469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USER/DOCTOR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601490" y="2584830"/>
            <a:ext cx="2094300" cy="619800"/>
          </a:xfrm>
          <a:prstGeom prst="ellipse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601490" y="3382895"/>
            <a:ext cx="2094300" cy="619800"/>
          </a:xfrm>
          <a:prstGeom prst="ellipse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Feature Selection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838693" y="5185693"/>
            <a:ext cx="1698600" cy="619800"/>
          </a:xfrm>
          <a:prstGeom prst="ellipse">
            <a:avLst/>
          </a:prstGeom>
          <a:gradFill>
            <a:gsLst>
              <a:gs pos="0">
                <a:srgbClr val="AFAFAF"/>
              </a:gs>
              <a:gs pos="50000">
                <a:schemeClr val="accent3"/>
              </a:gs>
              <a:gs pos="100000">
                <a:srgbClr val="919191"/>
              </a:gs>
            </a:gsLst>
            <a:lin ang="5400012" scaled="0"/>
          </a:gra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7"/>
          <p:cNvCxnSpPr>
            <a:stCxn id="159" idx="2"/>
            <a:endCxn id="158" idx="0"/>
          </p:cNvCxnSpPr>
          <p:nvPr/>
        </p:nvCxnSpPr>
        <p:spPr>
          <a:xfrm>
            <a:off x="5648577" y="1486191"/>
            <a:ext cx="0" cy="27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6" name="Google Shape;166;p7"/>
          <p:cNvCxnSpPr>
            <a:stCxn id="158" idx="4"/>
            <a:endCxn id="162" idx="0"/>
          </p:cNvCxnSpPr>
          <p:nvPr/>
        </p:nvCxnSpPr>
        <p:spPr>
          <a:xfrm>
            <a:off x="5648633" y="2385384"/>
            <a:ext cx="0" cy="19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7" name="Google Shape;167;p7"/>
          <p:cNvCxnSpPr>
            <a:stCxn id="162" idx="4"/>
            <a:endCxn id="163" idx="0"/>
          </p:cNvCxnSpPr>
          <p:nvPr/>
        </p:nvCxnSpPr>
        <p:spPr>
          <a:xfrm>
            <a:off x="5648640" y="3204630"/>
            <a:ext cx="0" cy="17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8" name="Google Shape;168;p7"/>
          <p:cNvCxnSpPr>
            <a:stCxn id="163" idx="4"/>
          </p:cNvCxnSpPr>
          <p:nvPr/>
        </p:nvCxnSpPr>
        <p:spPr>
          <a:xfrm>
            <a:off x="5648640" y="4002695"/>
            <a:ext cx="0" cy="27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9" name="Google Shape;169;p7"/>
          <p:cNvCxnSpPr>
            <a:stCxn id="160" idx="4"/>
            <a:endCxn id="164" idx="0"/>
          </p:cNvCxnSpPr>
          <p:nvPr/>
        </p:nvCxnSpPr>
        <p:spPr>
          <a:xfrm>
            <a:off x="5687940" y="4899175"/>
            <a:ext cx="0" cy="2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0" name="Google Shape;170;p7"/>
          <p:cNvCxnSpPr>
            <a:stCxn id="164" idx="4"/>
            <a:endCxn id="161" idx="0"/>
          </p:cNvCxnSpPr>
          <p:nvPr/>
        </p:nvCxnSpPr>
        <p:spPr>
          <a:xfrm>
            <a:off x="5687993" y="5805493"/>
            <a:ext cx="0" cy="217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/>
        </p:nvSpPr>
        <p:spPr>
          <a:xfrm>
            <a:off x="2045110" y="336442"/>
            <a:ext cx="795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&amp; MACHINE LEARNING MODELS</a:t>
            </a:r>
            <a:endParaRPr b="0" i="0" sz="2400" u="none" cap="none" strike="noStrike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97650" y="962845"/>
            <a:ext cx="10796700" cy="5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&amp; Backend: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– NetBeans (Java with NetBeans is used to develop both the frontend interface and backend logic of the system)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Components Used: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JFrame   – Main application window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JButton  – Load Dataset, Feature Selection,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JTextArea– Displays dataset and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JPanel, JScrollPane – Layout and scrolling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Library: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Weka 3.7.11 – Provides all ML algorithms and feature selection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 Library: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JFreeChart – Generates professional bar charts for visual comparison of algorithm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Format: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 (kidney1.csv) – Stores patient medical records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/>
        </p:nvSpPr>
        <p:spPr>
          <a:xfrm>
            <a:off x="3854245" y="135208"/>
            <a:ext cx="448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METRICES</a:t>
            </a:r>
            <a:endParaRPr b="0" i="0" sz="2400" u="none" cap="none" strike="noStrike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2560757" y="596901"/>
            <a:ext cx="10796700" cy="60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Formula: (Correct Predictions / Total Patients) ×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Meaning: Overall percentage of correct diagnoses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Formula: TP / (TP + FP) ×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Meaning: Of patients predicted CKD, how many truly have CKD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(Sensitivity)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Formula: TP / (TP + FN) × 100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Meaning: Of actual CKD patients, how many were correctly identified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F-Measure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Formula: 2 × (Precision × Recall) / (Precision + Recall)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Meaning: Balance between Precision and Recall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TP (correct)      | FN (missed — dangerous!)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FP (alarm)        | TN (correct)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p10"/>
          <p:cNvGraphicFramePr/>
          <p:nvPr/>
        </p:nvGraphicFramePr>
        <p:xfrm>
          <a:off x="540776" y="7203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{986C83A6-ED50-44FF-9414-461DE10DFE4D}</a:tableStyleId>
              </a:tblPr>
              <a:tblGrid>
                <a:gridCol w="1105925"/>
                <a:gridCol w="1951900"/>
                <a:gridCol w="3077500"/>
                <a:gridCol w="2782525"/>
                <a:gridCol w="2192600"/>
              </a:tblGrid>
              <a:tr h="491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79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MD SADI AL HUDA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 Explainable and Real-Time Framework for Predicting Chronic Kidney Disease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Achieved high accuracy with transparent predictions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depends on data quality and system integration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804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2022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YAWEN ZHAO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Chronic Kidney Disease Diagnostic Model Based on an Interpretable Deep Belief Rule Base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diagnostic accuracy with improved interpretability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Model complexity increases with rule generation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5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alibri"/>
                        <a:buNone/>
                      </a:pPr>
                      <a:r>
                        <a:t/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PANKAJ CHITTORA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 of Chronic Kidney Disease – A Machine Learning Perspective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DNN achieved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99.6% </a:t>
                      </a:r>
                      <a:r>
                        <a:rPr b="0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accuracy</a:t>
                      </a:r>
                      <a:endParaRPr sz="18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LSVM-L2 achieved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98.86%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computational cost </a:t>
                      </a:r>
                      <a:endParaRPr sz="18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real-time applicability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09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2021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LINTA ANTONY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Comprehensive Unsupervised Framework for Chronic Kidney Disease Prediction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Achieves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 accuracy (up to 99.3%)</a:t>
                      </a: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using K-means clustering</a:t>
                      </a:r>
                      <a:endParaRPr sz="18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improving prediction performance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 is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dataset-dependent</a:t>
                      </a:r>
                      <a:endParaRPr sz="18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K-means clustering is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sensitive to initial centroid selection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09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GUOZHEN CHEN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Prediction of Chronic Kidney Disease Using Adaptive Hybridized Deep Convolutional Neural Network on the Internet of Medical Things Platform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accuracy using AHDCNN, effective feature extraction from medical images, suitable for real-time IoMT healthcare systems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computational cost, requires large labeled datasets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8" name="Google Shape;188;p10"/>
          <p:cNvSpPr txBox="1"/>
          <p:nvPr/>
        </p:nvSpPr>
        <p:spPr>
          <a:xfrm>
            <a:off x="540778" y="244124"/>
            <a:ext cx="111105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" name="Google Shape;193;p11"/>
          <p:cNvGraphicFramePr/>
          <p:nvPr/>
        </p:nvGraphicFramePr>
        <p:xfrm>
          <a:off x="452283" y="1307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{986C83A6-ED50-44FF-9414-461DE10DFE4D}</a:tableStyleId>
              </a:tblPr>
              <a:tblGrid>
                <a:gridCol w="960175"/>
                <a:gridCol w="1946375"/>
                <a:gridCol w="3073475"/>
                <a:gridCol w="2975300"/>
                <a:gridCol w="2346850"/>
              </a:tblGrid>
              <a:tr h="568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ADVANTAGES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</a:t>
                      </a:r>
                      <a:endParaRPr sz="1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  <a:tr h="136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JIONGMING QIN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Machine Learning Methodology for Diagnosing Chronic Kidney Disease</a:t>
                      </a:r>
                      <a:endParaRPr i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Uses KNN imputation to handle missing values effectively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Integrated model improves accuracy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Achieves very high diagnostic accuracy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Model complexity increases due to ensemble approach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Not designed for real-time deployment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4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2020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ERIK ALONSO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Machine Learning Framework for Pulse Detection During Out-of-Hospital Cardiac Arrest</a:t>
                      </a:r>
                      <a:endParaRPr i="0" sz="1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Uses a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novel feature extraction method</a:t>
                      </a: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combining ECG and TI signals, improving detection performance.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Machine learning models may require </a:t>
                      </a: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retraining for different patient populations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737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2019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KALLENBERGER &amp; SCHMIDT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Forecasting the Development of Acute Kidney Injury Using a Recurrent Neural Network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Early prediction capability, handles sequential clinical data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false-positive rate, limited accuracy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94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2018</a:t>
                      </a:r>
                      <a:endParaRPr b="0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MUHAMED ALI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Machine Learning Approach for the Classification of Kidney Cancer Subtypes Using miRNA Genome Data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classification accuracy (~95%)</a:t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✔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Effective feature selection using NCA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Char char="⮚"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to genomic data, not suitable for general CKD datasets</a:t>
                      </a:r>
                      <a:endParaRPr i="0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4" name="Google Shape;194;p11"/>
          <p:cNvSpPr txBox="1"/>
          <p:nvPr/>
        </p:nvSpPr>
        <p:spPr>
          <a:xfrm>
            <a:off x="452200" y="368600"/>
            <a:ext cx="113022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 txBox="1"/>
          <p:nvPr/>
        </p:nvSpPr>
        <p:spPr>
          <a:xfrm>
            <a:off x="896353" y="948690"/>
            <a:ext cx="10697400" cy="56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CfsSubsetEval + GreedyStepwise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Selects features based on correlation with class label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From (Age, BP, BP2, Sugar) → removes BP2 (duplicate of BP)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Keeps only: sc, hemo, al, bp, sg, htn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Wrapper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WrapperSubsetEval + Random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feature subsets using a 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Tries (Age, BP), (BP, Sugar), (Age, Sugar)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Selects (BP, Sugar) because it gives highest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Method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Method: SymmetricalUncertAttributeEval + Ranker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Ranks features using information score (threshold = 0.2)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Ranks = Sc (1st), Hemo (2nd), BP (3rd)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Selects top features: Sc, Hemo, BP, Al, Htn, Dm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384426" y="288775"/>
            <a:ext cx="11807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 METHODS</a:t>
            </a:r>
            <a:endParaRPr b="0"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/>
        </p:nvSpPr>
        <p:spPr>
          <a:xfrm>
            <a:off x="4336026" y="365940"/>
            <a:ext cx="3657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None/>
            </a:pPr>
            <a:r>
              <a:rPr b="1" i="0" lang="en-US" sz="2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3"/>
          <p:cNvPicPr preferRelativeResize="0"/>
          <p:nvPr/>
        </p:nvPicPr>
        <p:blipFill rotWithShape="1">
          <a:blip r:embed="rId3">
            <a:alphaModFix/>
          </a:blip>
          <a:srcRect b="6402" l="0" r="0" t="0"/>
          <a:stretch/>
        </p:blipFill>
        <p:spPr>
          <a:xfrm>
            <a:off x="1079363" y="1020098"/>
            <a:ext cx="10033272" cy="528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/>
        </p:nvSpPr>
        <p:spPr>
          <a:xfrm>
            <a:off x="4454014" y="405581"/>
            <a:ext cx="6096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4"/>
          <p:cNvPicPr preferRelativeResize="0"/>
          <p:nvPr/>
        </p:nvPicPr>
        <p:blipFill rotWithShape="1">
          <a:blip r:embed="rId3">
            <a:alphaModFix/>
          </a:blip>
          <a:srcRect b="6006" l="0" r="0" t="0"/>
          <a:stretch/>
        </p:blipFill>
        <p:spPr>
          <a:xfrm>
            <a:off x="1243234" y="1054822"/>
            <a:ext cx="9980832" cy="5277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5"/>
          <p:cNvPicPr preferRelativeResize="0"/>
          <p:nvPr/>
        </p:nvPicPr>
        <p:blipFill rotWithShape="1">
          <a:blip r:embed="rId3">
            <a:alphaModFix/>
          </a:blip>
          <a:srcRect b="7817" l="0" r="0" t="0"/>
          <a:stretch/>
        </p:blipFill>
        <p:spPr>
          <a:xfrm>
            <a:off x="837454" y="997973"/>
            <a:ext cx="10694074" cy="554539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5"/>
          <p:cNvSpPr txBox="1"/>
          <p:nvPr/>
        </p:nvSpPr>
        <p:spPr>
          <a:xfrm>
            <a:off x="4540044" y="385605"/>
            <a:ext cx="3446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IMPLEMENTATIONS</a:t>
            </a:r>
            <a:endParaRPr b="0" i="0" sz="2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 txBox="1"/>
          <p:nvPr/>
        </p:nvSpPr>
        <p:spPr>
          <a:xfrm>
            <a:off x="1488449" y="469385"/>
            <a:ext cx="9215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LOADING SCREEN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658" y="1480314"/>
            <a:ext cx="9215188" cy="4941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"/>
          <p:cNvSpPr txBox="1"/>
          <p:nvPr/>
        </p:nvSpPr>
        <p:spPr>
          <a:xfrm>
            <a:off x="1809135" y="356108"/>
            <a:ext cx="85737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OF FEATURE SELECTION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872" y="1156495"/>
            <a:ext cx="9553812" cy="5345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/>
        </p:nvSpPr>
        <p:spPr>
          <a:xfrm>
            <a:off x="5475338" y="297115"/>
            <a:ext cx="1556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1690" r="0" t="0"/>
          <a:stretch/>
        </p:blipFill>
        <p:spPr>
          <a:xfrm>
            <a:off x="1946787" y="947901"/>
            <a:ext cx="8298426" cy="539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/>
        </p:nvSpPr>
        <p:spPr>
          <a:xfrm>
            <a:off x="5465506" y="130740"/>
            <a:ext cx="1556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329" y="725009"/>
            <a:ext cx="10589341" cy="5953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type="title"/>
          </p:nvPr>
        </p:nvSpPr>
        <p:spPr>
          <a:xfrm>
            <a:off x="3885496" y="485300"/>
            <a:ext cx="3855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b="1" sz="2400">
              <a:solidFill>
                <a:srgbClr val="323F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968400" y="485300"/>
            <a:ext cx="11223600" cy="61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All Features (Baseline Accuracy):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          → ~96%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Random Tree   → ~95%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SVM           → ~95%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C4.5          → ~94%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KNN           → ~93%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Logistic      → ~91%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 improved accuracy by +2% to +4%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+ Embedded FS = Best performing combination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charts generated to visually compare all algorithms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6716400" y="1025600"/>
            <a:ext cx="54756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❖"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Embedded Feature Selection (Best Results):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          → 98–99%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Random Tree   → ~97–98%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SVM           → ~97%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C4.5          → ~96%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KNN           → ~95%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Logistic      → ~93%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3885495" y="455803"/>
            <a:ext cx="3855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400">
              <a:solidFill>
                <a:srgbClr val="323F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1147890" y="1252704"/>
            <a:ext cx="9330900" cy="48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built a CKD Prediction System using Java, Weka, and Java Swing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3 Feature Selection methods — Filter, Wrapper, Embedded — all successfully reduced irrelevant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Tested 6 Classification Algorithms using 10-Fold Cross Validation for fair and unbiased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with Embedded Feature Selection achieved the highest accuracy of ~98–99%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selection consistently improved accuracy by +2% to +4% across all algorithms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a fast, automated, and accurate way to detect CKD — enabling early diagnosis and treatment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bar charts make it easy for doctors and researchers to compare algorithm performance at a glance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type="title"/>
          </p:nvPr>
        </p:nvSpPr>
        <p:spPr>
          <a:xfrm>
            <a:off x="4849320" y="273618"/>
            <a:ext cx="2652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>
              <a:solidFill>
                <a:srgbClr val="323F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639097" y="1205435"/>
            <a:ext cx="10962900" cy="53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Jiongming Qin, Lin Chen, Yuhua Liu, Chuanjun Liu, Changhao Feng, and Bin Chen, “A Machine Learning Methodology for Diagnosing Chronic Kidney Disease,”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IEEE Access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2019.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https://ieeexplore.ieee.org/document/8893707</a:t>
            </a:r>
            <a:endParaRPr sz="1600">
              <a:solidFill>
                <a:srgbClr val="00B0F0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Yawen Zhao et al., 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“A Chronic Kidney Disease Diagnostic Model Based on an Interpretable Deep Belief Rule Base,”IEEE Access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https://ieeexplore.ieee.org/document/10119976</a:t>
            </a:r>
            <a:endParaRPr sz="1600">
              <a:solidFill>
                <a:srgbClr val="00B0F0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Linta Antony et al.,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“A Comprehensive Unsupervised Framework for Chronic Kidney Disease Prediction,”IEEE Access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2021. 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https://ieeexplore.ieee.org/document/9446468</a:t>
            </a:r>
            <a:endParaRPr sz="1600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P. Chittora, et al.,“Prediction of Chronic Kidney Disease – A Machine Learning Perspective,”IEEE Access, vol. 9, pp. 17312–17334, 2021.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1600"/>
              <a:buNone/>
            </a:pPr>
            <a:r>
              <a:rPr lang="en-US" sz="1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https://ieeexplore.ieee.org/document/944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2140</a:t>
            </a:r>
            <a:endParaRPr sz="1600" u="sng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Huda (2025),“Achieved High Accuracy with Transparent Predictions for Chronic Kidney Disease,”Journal Name (pending IEEE Access), 2025.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</a:pPr>
            <a:r>
              <a:rPr lang="en-US" sz="1600">
                <a:solidFill>
                  <a:srgbClr val="EFEF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lang="en-US" sz="16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16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https://doaj.org/article/246b6b1e42004ca48b204484872cc6bf</a:t>
            </a:r>
            <a:endParaRPr sz="1600" u="sng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Yawen Z. et al. (2022),“Chronic Kidney Disease Diagnostic Model Based on Interpretable Deep Belief Rule Base,”DOAJ / IEEE Access Article, 2022.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EFEF"/>
              </a:buClr>
              <a:buSzPts val="1600"/>
              <a:buNone/>
            </a:pPr>
            <a:r>
              <a:rPr lang="en-US" sz="1600">
                <a:solidFill>
                  <a:srgbClr val="EFEF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1600" u="sng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https://doaj.org/article/246b6b1e42004ca48b204484872cc6bf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/>
        </p:nvSpPr>
        <p:spPr>
          <a:xfrm>
            <a:off x="4345850" y="609600"/>
            <a:ext cx="27726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3F4F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323F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0" i="0" sz="2400" u="none" cap="none" strike="noStrike">
              <a:solidFill>
                <a:srgbClr val="323F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589935" y="1592826"/>
            <a:ext cx="11346300" cy="4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Vijendra Singh, V. K. Asari, R. Rajkumar Rajasekaran,“A Deep Neural Network for Early Detection and Prediction of Chronic Kidney Disease,” Diagnostics, vol. 12, no. 1, 2022.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EFEF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0" lang="en-US" sz="1800" u="sng" cap="none" strike="noStrike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https://www.mdpi.com/2075-4418/12/1/116</a:t>
            </a:r>
            <a:r>
              <a:rPr b="0" i="0" lang="en-US" sz="1800" u="sng" cap="none" strike="noStrike">
                <a:solidFill>
                  <a:srgbClr val="EFEFE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 Alonso, U. Irusta, E. Aramendi, M. R. Daya, A Machine Learning Framework for Pulse Detection during Out-of-Hospital Cardiac Arrest, IEEE Access, 2020 — pulse detection using ECG &amp; TI signals.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IEEE paper on pulse detection 2020</a:t>
            </a:r>
            <a:endParaRPr b="0" i="0" sz="1800" u="none" cap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Elola, E. Aramendi, U. Irusta et al., Deep Neural Networks for ECG-Based Pulse Detection during Out-of-Hospital Cardiac Arrest, Entropy (Basel), 2019 — DNN architectures for pulse vs PEA classification.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b="0" i="0" lang="en-US" sz="1800" u="sng" cap="none" strike="noStrike">
                <a:solidFill>
                  <a:srgbClr val="4A86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https://pmc.ncbi.nlm.nih.gov/articles/PMC7514786/</a:t>
            </a:r>
            <a:endParaRPr b="0" i="0" sz="1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Jiapu Pan and W. J. Tompkins, </a:t>
            </a:r>
            <a:r>
              <a:rPr b="0" i="1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Real-Time QRS Detection Algorithm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IEEE Transactions on Biomedical Engineering, 1985 — foundational ECG feature extraction method (used in many ML ECG studies).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https://ieeexplore.ieee.org/document/4122029</a:t>
            </a:r>
            <a:endParaRPr b="0" i="0" sz="1800" u="none" cap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of Cardiac Arrhythmia using Machine Learning, IEEE Xplore Conference Publication — ML classification of ECG rhythms (relevant to OHCA rhythm analysis).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0" i="0" lang="en-US" sz="1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https://ieeexplore.ieee.org/document/10425867</a:t>
            </a:r>
            <a:endParaRPr b="0" i="0" sz="1800" u="sng" cap="none" strike="noStrik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